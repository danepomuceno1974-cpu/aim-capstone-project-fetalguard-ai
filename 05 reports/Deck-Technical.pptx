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lang="en-PH" sz="1200" b="0" i="0" u="none" strike="noStrike">
                <a:solidFill>
                  <a:srgbClr val="0B1F3A"/>
                </a:solidFill>
                <a:latin typeface="Arial"/>
              </a:rPr>
              <a:t>Class Distribution (N = 2,126)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B6E9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Normal</c:v>
                </c:pt>
                <c:pt idx="1">
                  <c:v>Abnormal
(Suspect + Pathological)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1655</c:v>
                </c:pt>
                <c:pt idx="1">
                  <c:v>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72-42A2-B476-0B87432377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C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B1F3A"/>
                </a:solidFill>
                <a:latin typeface="Arial"/>
              </a:defRPr>
            </a:pPr>
            <a:r>
              <a:rPr lang="en-PH" sz="1150" b="0" i="0" u="none" strike="noStrike">
                <a:solidFill>
                  <a:srgbClr val="0B1F3A"/>
                </a:solidFill>
                <a:latin typeface="Arial"/>
              </a:rPr>
              <a:t>Illustrative Target Performance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(LogReg, raw)</c:v>
                </c:pt>
              </c:strCache>
            </c:strRef>
          </c:tx>
          <c:spPr>
            <a:solidFill>
              <a:srgbClr val="5A71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Recall</c:v>
                </c:pt>
                <c:pt idx="1">
                  <c:v>Precision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91</c:v>
                </c:pt>
                <c:pt idx="2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47-494F-A465-163B1D0F51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Cost-Sensitive (XGBoost)</c:v>
                </c:pt>
              </c:strCache>
            </c:strRef>
          </c:tx>
          <c:spPr>
            <a:solidFill>
              <a:srgbClr val="0B6E9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Recall</c:v>
                </c:pt>
                <c:pt idx="1">
                  <c:v>Precision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</c:v>
                </c:pt>
                <c:pt idx="1">
                  <c:v>84</c:v>
                </c:pt>
                <c:pt idx="2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47-494F-A465-163B1D0F51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C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718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lang="en-PH" sz="1200" b="0" i="0" u="none" strike="noStrike">
                <a:solidFill>
                  <a:srgbClr val="0B1F3A"/>
                </a:solidFill>
                <a:latin typeface="Arial"/>
              </a:rPr>
              <a:t>Cost vs. Decision Threshold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Expected Cost</c:v>
                </c:pt>
              </c:strCache>
            </c:strRef>
          </c:tx>
          <c:spPr>
            <a:ln w="38100" cap="flat">
              <a:solidFill>
                <a:srgbClr val="0B6E9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6E99"/>
              </a:solidFill>
              <a:ln w="9525" cap="flat">
                <a:solidFill>
                  <a:srgbClr val="0B6E99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0.35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420</c:v>
                </c:pt>
                <c:pt idx="1">
                  <c:v>260</c:v>
                </c:pt>
                <c:pt idx="2">
                  <c:v>165</c:v>
                </c:pt>
                <c:pt idx="3">
                  <c:v>140</c:v>
                </c:pt>
                <c:pt idx="4">
                  <c:v>155</c:v>
                </c:pt>
                <c:pt idx="5">
                  <c:v>210</c:v>
                </c:pt>
                <c:pt idx="6">
                  <c:v>300</c:v>
                </c:pt>
                <c:pt idx="7">
                  <c:v>410</c:v>
                </c:pt>
                <c:pt idx="8">
                  <c:v>560</c:v>
                </c:pt>
                <c:pt idx="9">
                  <c:v>740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56-4ECC-96B0-AB33B2F03A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PH" sz="1000" b="0" i="0" u="none" strike="noStrike">
                    <a:solidFill>
                      <a:srgbClr val="000000"/>
                    </a:solidFill>
                    <a:latin typeface="Arial"/>
                  </a:rPr>
                  <a:t>Threshold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6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Cost = 1×FP + 10×FN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lang="en-PH" sz="1200" b="0" i="0" u="none" strike="noStrike">
                <a:solidFill>
                  <a:srgbClr val="0B1F3A"/>
                </a:solidFill>
                <a:latin typeface="Arial"/>
              </a:rPr>
              <a:t>Global Feature Importance (illustrative)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 value|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ASTV</c:v>
                </c:pt>
                <c:pt idx="1">
                  <c:v>ALTV</c:v>
                </c:pt>
                <c:pt idx="2">
                  <c:v>DP</c:v>
                </c:pt>
                <c:pt idx="3">
                  <c:v>MSTV</c:v>
                </c:pt>
                <c:pt idx="4">
                  <c:v>DS</c:v>
                </c:pt>
                <c:pt idx="5">
                  <c:v>AC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0.31</c:v>
                </c:pt>
                <c:pt idx="1">
                  <c:v>0.24</c:v>
                </c:pt>
                <c:pt idx="2">
                  <c:v>0.19</c:v>
                </c:pt>
                <c:pt idx="3">
                  <c:v>0.15</c:v>
                </c:pt>
                <c:pt idx="4">
                  <c:v>0.11</c:v>
                </c:pt>
                <c:pt idx="5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C3-41E9-843B-AC2E7DD32B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C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99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METHODOLOGY REVIEW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 (Cardiotocography) Binary Classification  —  UCI Dataset #193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0908792" cy="0"/>
          </a:xfrm>
          <a:prstGeom prst="line">
            <a:avLst/>
          </a:prstGeom>
          <a:noFill/>
          <a:ln w="25400">
            <a:solidFill>
              <a:srgbClr val="0B6E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1605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2385A"/>
          </a:solidFill>
          <a:ln w="12700">
            <a:solidFill>
              <a:srgbClr val="0B6E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160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30552" y="41605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2385A"/>
          </a:solidFill>
          <a:ln w="12700">
            <a:solidFill>
              <a:srgbClr val="0B6E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0552" y="4160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12464" y="41605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2385A"/>
          </a:solidFill>
          <a:ln w="12700">
            <a:solidFill>
              <a:srgbClr val="0B6E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4160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94376" y="41605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2385A"/>
          </a:solidFill>
          <a:ln w="12700">
            <a:solidFill>
              <a:srgbClr val="0B6E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4376" y="4160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76288" y="41605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2385A"/>
          </a:solidFill>
          <a:ln w="12700">
            <a:solidFill>
              <a:srgbClr val="0B6E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6288" y="4160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58200" y="41605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2385A"/>
          </a:solidFill>
          <a:ln w="12700">
            <a:solidFill>
              <a:srgbClr val="0B6E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4160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040112" y="41605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2385A"/>
          </a:solidFill>
          <a:ln w="12700">
            <a:solidFill>
              <a:srgbClr val="0B6E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40112" y="4160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852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D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 Team
</a:t>
            </a:r>
            <a:r>
              <a:rPr lang="en-US" sz="1200" b="1" dirty="0">
                <a:solidFill>
                  <a:srgbClr val="6D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 A. Nepomuceno | Post Graduate Diploma in Artificial Intelligence and Machine Learning  | July 2026</a:t>
            </a:r>
            <a:endParaRPr lang="en-US" sz="12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1A12E170-C922-5861-CB76-1950D2AAB352}"/>
              </a:ext>
            </a:extLst>
          </p:cNvPr>
          <p:cNvSpPr/>
          <p:nvPr/>
        </p:nvSpPr>
        <p:spPr>
          <a:xfrm>
            <a:off x="548640" y="1599267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FETALGUARD AI</a:t>
            </a:r>
            <a:endParaRPr lang="en-US" sz="46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0724642A-73A5-BF97-D815-46F35E1885EE}"/>
              </a:ext>
            </a:extLst>
          </p:cNvPr>
          <p:cNvSpPr/>
          <p:nvPr/>
        </p:nvSpPr>
        <p:spPr>
          <a:xfrm>
            <a:off x="548640" y="2422227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Accuracy: A Cost-Sensitive, Explainable AI Framework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Early Detection of Fetal Distress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Accuracy Paradox in Clinical Classification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Accuracy Fails Here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is ~78% Normal / 22% Abnormal. A model predicting “Normal” for every case scores </a:t>
            </a: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 accuracy</a:t>
            </a: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achieving 0% recall on the class that matters clinically.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554480"/>
            <a:ext cx="55321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Reframing the Objective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03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optimize a weighted cost matrix, not F1 or accuracy:
</a:t>
            </a:r>
            <a:r>
              <a:rPr lang="en-US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= (1 × FP) + (10 × FN)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(missed distress) are penalized 10x relative to false positives (unnecessary follow-up).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1064240" cy="2011680"/>
          </a:xfrm>
          <a:prstGeom prst="roundRect">
            <a:avLst>
              <a:gd name="adj" fmla="val 318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10424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Optimization — minimize weighted clinical cost, prioritize Recall over Precision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— validate SHAP feature importance against FIGO clinical guidelines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Imbalance Handling — compare SMOTE / ADASYN / class-weighting without overfitting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Deployment — Streamlit DSS with clinician-adjustable sensitivity threshold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Technical Review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CTG Dataset — Structure &amp; Class Distribution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Scope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ML Repository, Dataset #193 (SisPorto 3.0)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Instances: </a:t>
            </a: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2,124 CTG recordings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numeric (LB, AC, FM, UC, DS, ASTV, MSTV…)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 (1 Normal / 2 Suspect / 3 Pathological)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508760"/>
            <a:ext cx="58521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691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1031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 1 — Normal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9680" y="21031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Target_Binary =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5603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 2 — Suspect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69680" y="25603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Target_Binary =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30175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 3 — Pathological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869680" y="30175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Target_Binary = 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3429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re-mapping merges clinically actionable risk (Suspect + Pathological) into a single “Abnormal” class.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48640" y="3977640"/>
          <a:ext cx="55778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620672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*Chart values are illustrative / synthetic and for demonstration purposes only — pending validation on real model runs.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355080" y="3977640"/>
            <a:ext cx="52578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29400" y="4160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 Ratio ≈ 3.5 : 1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29400" y="461772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 Normal vs. ~22% Abnormal — confirmed via distribution plot before any resampling. Drives the choice of Stratified K-Fold CV and training-set-only SMOTE-NC / ADASYN.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Technical Review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— 7 Phases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07592" y="1828800"/>
            <a:ext cx="9710928" cy="0"/>
          </a:xfrm>
          <a:prstGeom prst="line">
            <a:avLst/>
          </a:prstGeom>
          <a:noFill/>
          <a:ln w="38100">
            <a:solidFill>
              <a:srgbClr val="DC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1682496"/>
            <a:ext cx="292608" cy="292608"/>
          </a:xfrm>
          <a:prstGeom prst="ellipse">
            <a:avLst/>
          </a:prstGeom>
          <a:solidFill>
            <a:srgbClr val="0B6E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1682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517904" cy="306324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13432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Cleaning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063240"/>
            <a:ext cx="1060704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00400"/>
            <a:ext cx="133502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Nulls, duplicates,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outliers, stats tests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79776" y="1682496"/>
            <a:ext cx="292608" cy="292608"/>
          </a:xfrm>
          <a:prstGeom prst="ellipse">
            <a:avLst/>
          </a:prstGeom>
          <a:solidFill>
            <a:srgbClr val="0B6E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9776" y="1682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67128" y="2148840"/>
            <a:ext cx="1517904" cy="306324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58568" y="2313432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No-Leakage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95728" y="3063240"/>
            <a:ext cx="1060704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58568" y="3200400"/>
            <a:ext cx="133502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→ Scale →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(train only)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98264" y="1682496"/>
            <a:ext cx="292608" cy="292608"/>
          </a:xfrm>
          <a:prstGeom prst="ellipse">
            <a:avLst/>
          </a:prstGeom>
          <a:solidFill>
            <a:srgbClr val="0B6E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8264" y="1682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85616" y="2148840"/>
            <a:ext cx="1517904" cy="306324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77056" y="2313432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Cost-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Modeling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14216" y="3063240"/>
            <a:ext cx="1060704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77056" y="3200400"/>
            <a:ext cx="133502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LogReg/DT baseline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RF/XGB/LGBM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16752" y="1682496"/>
            <a:ext cx="292608" cy="292608"/>
          </a:xfrm>
          <a:prstGeom prst="ellipse">
            <a:avLst/>
          </a:prstGeom>
          <a:solidFill>
            <a:srgbClr val="0B6E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1682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04104" y="2148840"/>
            <a:ext cx="1517904" cy="306324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95544" y="2313432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32704" y="3063240"/>
            <a:ext cx="1060704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95544" y="3200400"/>
            <a:ext cx="133502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Cost-minimizing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35240" y="1682496"/>
            <a:ext cx="292608" cy="292608"/>
          </a:xfrm>
          <a:prstGeom prst="ellipse">
            <a:avLst/>
          </a:prstGeom>
          <a:solidFill>
            <a:srgbClr val="0B6E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1682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22592" y="2148840"/>
            <a:ext cx="1517904" cy="306324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14032" y="2313432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(XAI)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51192" y="3063240"/>
            <a:ext cx="1060704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3200400"/>
            <a:ext cx="133502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 +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validation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253728" y="1682496"/>
            <a:ext cx="292608" cy="292608"/>
          </a:xfrm>
          <a:prstGeom prst="ellipse">
            <a:avLst/>
          </a:prstGeom>
          <a:solidFill>
            <a:srgbClr val="0B6E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53728" y="1682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41080" y="2148840"/>
            <a:ext cx="1517904" cy="306324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732520" y="2313432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 &amp;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869680" y="3063240"/>
            <a:ext cx="1060704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32520" y="3200400"/>
            <a:ext cx="133502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LIME, PDP/ICE,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metrics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872216" y="1682496"/>
            <a:ext cx="292608" cy="292608"/>
          </a:xfrm>
          <a:prstGeom prst="ellipse">
            <a:avLst/>
          </a:prstGeom>
          <a:solidFill>
            <a:srgbClr val="0B6E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72216" y="1682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259568" y="2148840"/>
            <a:ext cx="1517904" cy="306324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351008" y="2313432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488168" y="3063240"/>
            <a:ext cx="1060704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51008" y="3200400"/>
            <a:ext cx="133502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DSS,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Cloud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areas: Cost-Sensitive Learning · Explainability (XAI) · Clinical Validity · No data leakage at any stage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Technical Review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&amp; Cleaning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379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6E9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09928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89120" y="1709928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NaNs with median (outlier-robust) or mode; drop duplicate records.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077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6E9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779776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Handling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0" y="2779776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Winsorize at 1st / 99th percentile for physiologically impossible values (e.g., FHR &gt; 250 bpm).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977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6E9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849624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Screening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0" y="3849624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flags feature pairs with |r| &gt; 0.9; retained for model-specific handling, not dropped pre-emptively.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09744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47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6E9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47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9194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89120" y="4919472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/ ANOVA to confirm which features differ significantly between Normal vs. Abnormal groups.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Technical Review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— The “No-Leakage”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9164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63240" y="2400300"/>
            <a:ext cx="25603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19272" y="1691640"/>
            <a:ext cx="25146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56432" y="169164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Scaler on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33872" y="2400300"/>
            <a:ext cx="25603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89904" y="1691640"/>
            <a:ext cx="25146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27064" y="169164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Train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(SMOTE/ADASYN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class_weight)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04504" y="2400300"/>
            <a:ext cx="25603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860536" y="1691640"/>
            <a:ext cx="2514600" cy="1417320"/>
          </a:xfrm>
          <a:prstGeom prst="roundRect">
            <a:avLst>
              <a:gd name="adj" fmla="val 451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97696" y="169164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Stays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&amp; Untouched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splitting happens before any scaling or resampling — the test set must represent real-world, unmodified distribution.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64240" cy="2468880"/>
          </a:xfrm>
          <a:prstGeom prst="roundRect">
            <a:avLst>
              <a:gd name="adj" fmla="val 2222"/>
            </a:avLst>
          </a:prstGeom>
          <a:solidFill>
            <a:srgbClr val="0F2942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986784"/>
            <a:ext cx="1066190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stratify=y, test_size=0.2, random_state=42)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StandardScaler().fit(X_train)                # fit on TRAIN only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X_train_scaled = scaler.transform(X_train)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X_test_scaled  = scaler.transform(X_test)              # never fit on test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smote = SMOTE(random_state=42)                         # resample TRAIN only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X_train_res, y_train_res = smote.fit_resample(X_train_scaled, y_train)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Technical Review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Cost-Sensitive Modeling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6420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(Imbalanced Data)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Decision Tree trained on raw, scaled data — no resampling. Expectation: high accuracy, low Recall on “Abnormal.”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0760" y="1508760"/>
            <a:ext cx="5532120" cy="1783080"/>
          </a:xfrm>
          <a:prstGeom prst="roundRect">
            <a:avLst>
              <a:gd name="adj" fmla="val 359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6642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(Cost-Sensitive)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993392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XGBoost, LightGBM — trained on SMOTE-resampled data and via scale_pos_weight / class_weight='balanced' as an alternate strategy.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0F2942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666744"/>
            <a:ext cx="49469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cost_scorer(y_true, y_pred):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tn, fp, fn, tp = confusion_matrix(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y_true, y_pred).ravel()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 * (fp*1 + fn*10)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custom_score = make_scorer(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cost_scorer, greater_is_better=False)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544068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scorer feeds GridSearchCV / Optuna — hyperparameters are tuned to minimize Total Expected Cost, not accuracy.</a:t>
            </a:r>
            <a:endParaRPr lang="en-US" sz="10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080760" y="352044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6080760" y="5989320"/>
            <a:ext cx="5532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*Chart values are illustrative / synthetic and for demonstration purposes only — pending validation on real model runs.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Technical Review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Optimization &amp; Validation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400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606040" y="41605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6" name="Text 3"/>
          <p:cNvSpPr/>
          <p:nvPr/>
        </p:nvSpPr>
        <p:spPr>
          <a:xfrm>
            <a:off x="2606040" y="4160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≈ 0.35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*Chart values are illustrative / synthetic and for demonstration purposes only — pending validation on real model runs.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178040" y="1554480"/>
            <a:ext cx="443484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52360" y="1737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52360" y="210312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CV on the best model — report mean/std Recall &amp; Cost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thresholds 0.1 → 0.9 on predict_proba() output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threshold minimizing Cost (or Recall &gt; 95% at max Precision)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threshold; generate final Confusion Matrix, ROC, and PR curves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" y="50749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this phase: a single, defensible operating threshold with documented cost trade-off — not an arbitrary 0.5 cutoff.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Technical Review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— SHAP &amp; Clinical Alignment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15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*Chart values are illustrative / synthetic and for demonstration purposes only — pending validation on real model runs.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6309360" y="1554480"/>
            <a:ext cx="530352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7190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0" y="20574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shap.TreeExplainer(model) on tuned RF / XGBoost</a:t>
            </a:r>
            <a:endParaRPr lang="en-US" sz="1100" dirty="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plot — global ranking across test set</a:t>
            </a:r>
            <a:endParaRPr lang="en-US" sz="1100" dirty="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plot — explain one False Positive and one True Positive case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36118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ASTV (% time abnormal short-term variability) and DP (prolonged decelerations) ranking highest is consistent with FIGO intrapartum monitoring guidelines.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11064240" cy="1463040"/>
          </a:xfrm>
          <a:prstGeom prst="roundRect">
            <a:avLst>
              <a:gd name="adj" fmla="val 437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  →  Clinical Relevance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5230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ASTV / MSTV  —  </a:t>
            </a:r>
            <a:r>
              <a:rPr lang="en-US" sz="11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FHR variability — core marker of fetal autonomic response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561441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/ DS  —  </a:t>
            </a:r>
            <a:r>
              <a:rPr lang="en-US" sz="11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/ severe decelerations — direct hypoxia indicators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Technical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AI &amp; Bias Auditing — Four Lenses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9359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0136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B6E9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01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(global) + LIME (local surrogate explanations per prediction)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9359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80136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B6E99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801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56632" y="17647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Effects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233172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— global effect across a feature's full value range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9359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180136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B6E99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1801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33104" y="17647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30184" y="233172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— per-patient variation within the global PDP trend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9359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95020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B6E9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3913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Limitations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44805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imbalance, leakage risk, overfitting, simplification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5112" y="3749040"/>
            <a:ext cx="359359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395020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B6E99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56632" y="3913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53712" y="44805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Proxy-group analysis + formal fairness metrics via AIF360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1584" y="3749040"/>
            <a:ext cx="359359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0184" y="395020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B6E99"/>
          </a:solidFill>
          <a:ln/>
        </p:spPr>
      </p:sp>
      <p:sp>
        <p:nvSpPr>
          <p:cNvPr id="31" name="Text 29"/>
          <p:cNvSpPr/>
          <p:nvPr/>
        </p:nvSpPr>
        <p:spPr>
          <a:xfrm>
            <a:off x="8330184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33104" y="3913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Proposals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30184" y="44805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remediation strategies for identified risks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Technical Review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— Interactive Decision Support Tool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08760"/>
            <a:ext cx="17465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Input</a:t>
            </a:r>
            <a:endParaRPr lang="en-US" sz="10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(Top-5 SHAP features</a:t>
            </a:r>
            <a:endParaRPr lang="en-US" sz="10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sliders)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2217420"/>
            <a:ext cx="21945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34056" y="150876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43784" y="1508760"/>
            <a:ext cx="17465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(saved StandardScaler)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0016" y="2217420"/>
            <a:ext cx="21945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19472" y="150876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508760"/>
            <a:ext cx="17465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predict_proba()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85432" y="2217420"/>
            <a:ext cx="21945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04888" y="150876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14616" y="1508760"/>
            <a:ext cx="17465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Optimal</a:t>
            </a:r>
            <a:endParaRPr lang="en-US" sz="10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(0.35)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70848" y="2217420"/>
            <a:ext cx="21945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90304" y="150876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00032" y="1508760"/>
            <a:ext cx="17465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Risk +</a:t>
            </a:r>
            <a:endParaRPr lang="en-US" sz="10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Rationale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200400"/>
            <a:ext cx="3593592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364992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(app.py)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3840480"/>
            <a:ext cx="3136392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“Normal” or “High Risk” + probability score</a:t>
            </a:r>
            <a:endParaRPr lang="en-US" sz="1050" dirty="0"/>
          </a:p>
          <a:p>
            <a:pPr marL="127000" indent="-1270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Slider: prediction shift under a lower (safer) threshold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79392" y="3200400"/>
            <a:ext cx="3593592" cy="2834640"/>
          </a:xfrm>
          <a:prstGeom prst="roundRect">
            <a:avLst>
              <a:gd name="adj" fmla="val 225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07992" y="336499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23" name="Text 21"/>
          <p:cNvSpPr/>
          <p:nvPr/>
        </p:nvSpPr>
        <p:spPr>
          <a:xfrm>
            <a:off x="4507992" y="336499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07992" y="373075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Helper Layer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07992" y="4160520"/>
            <a:ext cx="31363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2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dataset characteristics for quick orientation</a:t>
            </a:r>
            <a:endParaRPr lang="en-US" sz="1050" dirty="0"/>
          </a:p>
          <a:p>
            <a:pPr marL="127000" indent="-127000">
              <a:lnSpc>
                <a:spcPct val="12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Auto-documents features in plain, business-friendly language</a:t>
            </a:r>
            <a:endParaRPr lang="en-US" sz="1050" dirty="0"/>
          </a:p>
          <a:p>
            <a:pPr marL="127000" indent="-127000">
              <a:lnSpc>
                <a:spcPct val="12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individual predictions in non-technical language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07992" y="5596128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technical &amp; non-technical stakeholders — improves accessibility of model outputs.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10144" y="3200400"/>
            <a:ext cx="3593592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38744" y="3364992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CI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38744" y="3822192"/>
            <a:ext cx="313639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 → connect repo to Streamlit Community Cloud → auto-deploy on merge to main. Scaler and model artifacts versioned alongside app.py for reproducibility.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Technical Review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Metrics &amp; Next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20240" cy="1371600"/>
          </a:xfrm>
          <a:prstGeom prst="roundRect">
            <a:avLst>
              <a:gd name="adj" fmla="val 4667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95%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(Abnormal)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34640" y="1600200"/>
            <a:ext cx="1920240" cy="1371600"/>
          </a:xfrm>
          <a:prstGeom prst="roundRect">
            <a:avLst>
              <a:gd name="adj" fmla="val 4667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1737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80%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926080" y="2377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20640" y="1600200"/>
            <a:ext cx="1920240" cy="1371600"/>
          </a:xfrm>
          <a:prstGeom prst="roundRect">
            <a:avLst>
              <a:gd name="adj" fmla="val 4667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1737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87%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212080" y="2377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06640" y="1600200"/>
            <a:ext cx="1920240" cy="1371600"/>
          </a:xfrm>
          <a:prstGeom prst="roundRect">
            <a:avLst>
              <a:gd name="adj" fmla="val 4667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1737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0.93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498080" y="2377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92640" y="1600200"/>
            <a:ext cx="1920240" cy="1371600"/>
          </a:xfrm>
          <a:prstGeom prst="roundRect">
            <a:avLst>
              <a:gd name="adj" fmla="val 4667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84080" y="1737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Minimized @ t=0.35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784080" y="2377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(test set)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11064240" cy="2880360"/>
          </a:xfrm>
          <a:prstGeom prst="roundRect">
            <a:avLst>
              <a:gd name="adj" fmla="val 2222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  <a:effectLst>
            <a:outerShdw blurRad="88900" dist="25400" dir="5400000" algn="bl" rotWithShape="0">
              <a:srgbClr val="0B1F3A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931920"/>
            <a:ext cx="10424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model selection after comparing SMOTE vs. class-weight strategies on held-out cost metric</a:t>
            </a:r>
            <a:endParaRPr lang="en-US" sz="1200" dirty="0"/>
          </a:p>
          <a:p>
            <a:pPr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Stratified 5-Fold CV report (mean ± std) for Recall, Precision, F1, and Total Cost</a:t>
            </a:r>
            <a:endParaRPr lang="en-US" sz="1200" dirty="0"/>
          </a:p>
          <a:p>
            <a:pPr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SHAP force-plot review with clinical advisor(s) to validate top-feature rationale</a:t>
            </a:r>
            <a:endParaRPr lang="en-US" sz="1200" dirty="0"/>
          </a:p>
          <a:p>
            <a:pPr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AIF360 fairness audit across available demographic / clinical proxy groups</a:t>
            </a:r>
            <a:endParaRPr lang="en-US" sz="1200" dirty="0"/>
          </a:p>
          <a:p>
            <a:pPr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Streamlit MVP for internal review before external pilot deployment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D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D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Technical Review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1601</Words>
  <Application>Microsoft Office PowerPoint</Application>
  <PresentationFormat>Widescreen</PresentationFormat>
  <Paragraphs>252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ai ml</cp:lastModifiedBy>
  <cp:revision>3</cp:revision>
  <dcterms:created xsi:type="dcterms:W3CDTF">2026-07-12T11:15:57Z</dcterms:created>
  <dcterms:modified xsi:type="dcterms:W3CDTF">2026-07-15T10:26:04Z</dcterms:modified>
</cp:coreProperties>
</file>