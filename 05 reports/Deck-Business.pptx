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E36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2E36"/>
                </a:solidFill>
                <a:latin typeface="Arial"/>
              </a:rPr>
              <a:t>Modeled Value Breakdown ($M / year)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value ($M)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A2E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Liability
avoidance</c:v>
                </c:pt>
                <c:pt idx="1">
                  <c:v>C-section
efficiency</c:v>
                </c:pt>
                <c:pt idx="2">
                  <c:v>NICU LOS
reduction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13.3</c:v>
                </c:pt>
                <c:pt idx="1">
                  <c:v>2.2000000000000002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B4-42FC-9727-BC30E7E622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E7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408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277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3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7582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3323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748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911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677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395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2233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0554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914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90435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4350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1307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904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2576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6557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31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3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62968" y="868680"/>
            <a:ext cx="1005840" cy="1005840"/>
          </a:xfrm>
          <a:prstGeom prst="ellipse">
            <a:avLst/>
          </a:prstGeom>
          <a:solidFill>
            <a:srgbClr val="0F4753"/>
          </a:solidFill>
          <a:ln/>
        </p:spPr>
      </p:sp>
      <p:sp>
        <p:nvSpPr>
          <p:cNvPr id="3" name="Shape 1"/>
          <p:cNvSpPr/>
          <p:nvPr/>
        </p:nvSpPr>
        <p:spPr>
          <a:xfrm>
            <a:off x="1544019" y="1371600"/>
            <a:ext cx="160934" cy="914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704954" y="1081918"/>
            <a:ext cx="90123" cy="289682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95077" y="1081918"/>
            <a:ext cx="70811" cy="57936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865888" y="1210666"/>
            <a:ext cx="70811" cy="450616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6699" y="1210666"/>
            <a:ext cx="90123" cy="16093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26822" y="1371600"/>
            <a:ext cx="160934" cy="914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7208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FETALGUARD AI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997208" y="3154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Accuracy: A Cost-Sensitive, Explainable AI Framework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Early Detection of Fetal Distress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7207" y="4160520"/>
            <a:ext cx="6248981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7208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—  STRATEGIC INVESTMENT &amp; DEPLOYMENT PROPOSAL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7208" y="5760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Alcove Health Systems — Board of Directors &amp; Executive Council
</a:t>
            </a:r>
            <a:r>
              <a:rPr lang="en-US" sz="1200" b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A. Nepomuceno | Post Graduate Diploma in Artificial Intelligence and Machine Learning  |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725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725" y="906453"/>
            <a:ext cx="93027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Statistically Robust Model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Not a Clinically Safe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725" y="187106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00725" y="2236826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Cardiotocography (CTG) interpretation is subjective, with published inter-observer sensitivity for pathological tracings averaging only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r>
              <a:rPr lang="en-US" sz="13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Missed distress (false negatives) can lead to hypoxic injury; every model trained to maximize “accuracy” quietly optimizes for the wrong error.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0725" y="392846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00725" y="4294226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Obstetric claims carry the highest average indemnity of any specialty. A single missed-distress adverse event can produce a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seven-figure liability exposure</a:t>
            </a:r>
            <a:r>
              <a:rPr lang="en-US" sz="13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extended NICU costs, and reputational harm — while over-triage drives avoidable emergency C-sections.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52885" y="1840338"/>
            <a:ext cx="4738783" cy="113146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7205" y="188849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accuracy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27205" y="22128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miss every distressed fetus if the model just predicts “Normal”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52885" y="3429000"/>
            <a:ext cx="4737461" cy="1143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7205" y="348869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7205" y="3813048"/>
            <a:ext cx="436670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asymmetry: cost of a missed diagnosis vs. an unnecessary follow-up check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52885" y="5029200"/>
            <a:ext cx="4737461" cy="11430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7205" y="508889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27205" y="54132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average indemnity for a birth-injury malpractice claim (industry benchmark)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41706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928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097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DEPLOYMENT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2097" y="822615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Alcove Health Systems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 Representative Regional Network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2097" y="1645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profile modeled on a mid-size U.S. regional hospital network, used to size opportunity and ROI.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92097" y="2160742"/>
            <a:ext cx="2651760" cy="12225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74977" y="216074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74977" y="254203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with Labor &amp;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units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81017" y="2160742"/>
            <a:ext cx="2651760" cy="12225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3897" y="216074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063897" y="254203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69937" y="2160742"/>
            <a:ext cx="2651760" cy="12225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2817" y="216074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2817" y="254203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III/IV NICUs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in-network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58857" y="2160742"/>
            <a:ext cx="2214230" cy="12225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41737" y="216074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41737" y="254203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C-section rate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(national benchmark ~32%)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92097" y="3611880"/>
            <a:ext cx="10599571" cy="2423160"/>
          </a:xfrm>
          <a:prstGeom prst="roundRect">
            <a:avLst>
              <a:gd name="adj" fmla="val 3019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12137" y="38221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Alcove is a strong first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2137" y="4251960"/>
            <a:ext cx="10424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visual CTG interpretation with no standardized decision-support layer today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service line already flagged as a top-3 malpractice cost center in annual risk review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SisPorto-compatible CTG monitors across 11 of 15 sites simplify data integration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sponsorship in place via Patient Safety &amp; Quality Committee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24447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0657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36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936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FetalGuard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9360" y="12984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cost-sensitive, explainable clinical decision-support system — not a black box, not a replacement for clinicians.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9360" y="18745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2240" y="2057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407454" y="237744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509867" y="2193097"/>
            <a:ext cx="57351" cy="18434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67218" y="2193097"/>
            <a:ext cx="45062" cy="36868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612280" y="2275027"/>
            <a:ext cx="45062" cy="28675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57342" y="2275027"/>
            <a:ext cx="57351" cy="10241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4693" y="237744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9480" y="2075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Optimization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29400" y="2743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loss function penalizes missed distress 10x more than a false alarm — tuned to clinical, not statistical, risk.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32920" y="1874520"/>
            <a:ext cx="495743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15800" y="2057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31014" y="237744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7133427" y="2193097"/>
            <a:ext cx="57351" cy="18434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0778" y="2193097"/>
            <a:ext cx="45062" cy="36868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235840" y="2275027"/>
            <a:ext cx="45062" cy="28675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0902" y="2275027"/>
            <a:ext cx="57351" cy="10241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8253" y="237744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3040" y="2075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Design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52960" y="2743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validate every prediction against known clinical markers (late decelerations, reduced variability).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09360" y="4023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9224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1407454" y="452628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509867" y="4341937"/>
            <a:ext cx="57351" cy="18434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67218" y="4341937"/>
            <a:ext cx="45062" cy="36868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612280" y="4423867"/>
            <a:ext cx="45062" cy="28675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57342" y="4423867"/>
            <a:ext cx="57351" cy="10241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14693" y="452628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69480" y="4224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Imbalance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429400" y="4892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CV with SMOTE-NC ensures the model generalizes, not overfits to rare synthetic cases.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32920" y="4023360"/>
            <a:ext cx="495743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1580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31014" y="452628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133427" y="4341937"/>
            <a:ext cx="57351" cy="18434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90778" y="4341937"/>
            <a:ext cx="45062" cy="36868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235840" y="4423867"/>
            <a:ext cx="45062" cy="28675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80902" y="4423867"/>
            <a:ext cx="57351" cy="10241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38253" y="4526280"/>
            <a:ext cx="102413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3040" y="4224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in the Field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7052960" y="4892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lets each hospital tune sensitivity to its own risk tolerance and protocols.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141714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1792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726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5006" y="1211233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Bedside Monitor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Clinical Decision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In Under 30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0726" y="2722493"/>
            <a:ext cx="2331720" cy="2167128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3978" y="2429885"/>
            <a:ext cx="585216" cy="58521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73978" y="2429885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3606" y="3225413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 Signal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3606" y="3689517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FHR &amp; uterine contraction data streamed from bedside monitors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2446" y="3780957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98206" y="2722493"/>
            <a:ext cx="2331720" cy="2167128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1458" y="2429885"/>
            <a:ext cx="585216" cy="58521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1458" y="2429885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81086" y="3225413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81086" y="3689517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(RF / XGBoost) scores risk with 10x false-negative penalty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9926" y="3780957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5686" y="2722493"/>
            <a:ext cx="2331720" cy="2167128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8938" y="2429885"/>
            <a:ext cx="585216" cy="58521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8938" y="2429885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8566" y="3225413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Validation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8566" y="3689517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is explained against clinical markers in real 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7406" y="3780957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99804" y="2722492"/>
            <a:ext cx="2331720" cy="2167127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66418" y="2429885"/>
            <a:ext cx="585216" cy="58521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66418" y="2429885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76046" y="3225413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76046" y="3689517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DSS surfaces risk + rationale; clinician makes the call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00726" y="5349240"/>
            <a:ext cx="10424160" cy="960120"/>
          </a:xfrm>
          <a:prstGeom prst="roundRect">
            <a:avLst>
              <a:gd name="adj" fmla="val 7619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73978" y="5349240"/>
            <a:ext cx="98709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design: FetalGuard AI never overrides a clinician — it prioritizes and explains, the care team decides.</a:t>
            </a:r>
            <a:endParaRPr lang="en-US" sz="1300" b="1" dirty="0"/>
          </a:p>
        </p:txBody>
      </p:sp>
      <p:sp>
        <p:nvSpPr>
          <p:cNvPr id="29" name="Text 27"/>
          <p:cNvSpPr/>
          <p:nvPr/>
        </p:nvSpPr>
        <p:spPr>
          <a:xfrm>
            <a:off x="111330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9286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726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/ WHY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726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Accuracy Leaderboard Entry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0726" y="1600200"/>
            <a:ext cx="10590942" cy="502920"/>
          </a:xfrm>
          <a:prstGeom prst="roundRect">
            <a:avLst>
              <a:gd name="adj" fmla="val 14545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3606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86926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CTG-ML Studies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90246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00726" y="2103120"/>
            <a:ext cx="10972800" cy="658368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9" name="Text 7"/>
          <p:cNvSpPr/>
          <p:nvPr/>
        </p:nvSpPr>
        <p:spPr>
          <a:xfrm>
            <a:off x="1283606" y="21031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target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86926" y="210312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/ 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90246" y="2103120"/>
            <a:ext cx="301137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clinical cost (10x FN penalty)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3606" y="276148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6926" y="276148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probability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90246" y="2761488"/>
            <a:ext cx="301137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SHAP-validated, clinician-readable rationale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00726" y="3419856"/>
            <a:ext cx="10972800" cy="658368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1283606" y="341985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6926" y="341985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one-size-fits-all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90246" y="3419856"/>
            <a:ext cx="301137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per hospital risk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3606" y="407822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6926" y="407822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resampling / class weights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0246" y="4078224"/>
            <a:ext cx="301137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+ SMOTE-NC, bias-checked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00726" y="4736592"/>
            <a:ext cx="10580990" cy="658368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1283606" y="47365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6926" y="47365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notebook / research paper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90246" y="47365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decision-support tool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33076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9286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73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73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Modeled Annual Value at Full Network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730" y="12984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built on published clinical-risk benchmarks and Alcove's synthetic volume profile — to be validated during pilot.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00730" y="17830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933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9330" y="2450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annual value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9770" y="178308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837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78370" y="2450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 multiple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98810" y="1783080"/>
            <a:ext cx="3091542" cy="1188720"/>
          </a:xfrm>
          <a:prstGeom prst="roundRect">
            <a:avLst>
              <a:gd name="adj" fmla="val 6154"/>
            </a:avLst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2741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827410" y="24505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cumulative value</a:t>
            </a:r>
            <a:endParaRPr lang="en-US" sz="115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3309040804"/>
              </p:ext>
            </p:extLst>
          </p:nvPr>
        </p:nvGraphicFramePr>
        <p:xfrm>
          <a:off x="1100730" y="3246120"/>
          <a:ext cx="63093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1100730" y="608076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*Chart values are illustrative / modeled estimates for demonstration purposes only — not audited financial figures.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638690" y="3246120"/>
            <a:ext cx="405166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13010" y="34015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13010" y="3794760"/>
            <a:ext cx="3611881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severe hypoxic-injury cases/yr avoided via +recall on missed-distress cohort</a:t>
            </a:r>
            <a:endParaRPr lang="en-US" sz="11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~$780K avg. cost per case avoided (settlement, indemnity, extended NICU)</a:t>
            </a:r>
            <a:endParaRPr lang="en-US" sz="11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unnecessary C-sections/yr avoided in the “suspect” cohort</a:t>
            </a:r>
            <a:endParaRPr lang="en-US" sz="110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implementation cost (pilot + integration): ~$2.8M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1417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0929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735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735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KPIs — Year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0735" y="155448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3615" y="1554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(Sensitivity), Pathological class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81095" y="155448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50943" y="1837944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352695" y="155448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00735" y="226771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3615" y="22677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81095" y="226771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0943" y="2551176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352695" y="226771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00735" y="298094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3615" y="29809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AUC-ROC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81095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50943" y="3264408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352695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00735" y="369417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83615" y="369417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Precision (Suspect + Pathological)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81095" y="369417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50943" y="3977640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352695" y="369417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4295" y="1554480"/>
            <a:ext cx="4958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7175" y="1554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Time-to-Alert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59603" y="155448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periodic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329451" y="1837944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0631203" y="155448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sec, real-time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4295" y="2267712"/>
            <a:ext cx="496737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07175" y="22677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Missed-distress liability exposure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59603" y="226771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29451" y="2551176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631203" y="226771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− 50%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24295" y="2980944"/>
            <a:ext cx="496737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07175" y="29809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C-section rate (suspect cohort)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59603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329451" y="3264408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631203" y="29809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− 4% to −8%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24295" y="3694176"/>
            <a:ext cx="496737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07175" y="369417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trust (SHAP agreement, OB panel)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259603" y="369417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29451" y="3977640"/>
            <a:ext cx="2743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0631203" y="369417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141714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929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726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726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and How We Address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0726" y="15087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9326" y="1709928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03646" y="1645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 (FDA SaMD)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03646" y="2039112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assistive decision support (not autonomous); engage regulatory counsel early; align to FDA AI/ML SaMD guidance.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24286" y="1508760"/>
            <a:ext cx="496738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52886" y="1709928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227206" y="1645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liability &amp; over-reliance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7206" y="2039112"/>
            <a:ext cx="445451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design; SHAP rationale on every alert; clinician remains final decision-maker.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00726" y="32004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29326" y="3401568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603646" y="3337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fatigue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03646" y="3730752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per-site threshold tuning; cost-matrix calibrated with clinical champions during pilot.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4286" y="3200400"/>
            <a:ext cx="496738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52886" y="3401568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27206" y="33375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bias / generalization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27206" y="3730752"/>
            <a:ext cx="446446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CV, SMOTE-NC, multi-site validation, ongoing drift monitoring.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00726" y="48920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29326" y="5093208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603646" y="5029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monitor integration complexity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603646" y="5422392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2-site pilot; standards-based integration; leverage existing SisPorto-compatible monitors.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4286" y="4892040"/>
            <a:ext cx="496738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52886" y="5093208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227206" y="5029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adoption &amp; change management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27206" y="5422392"/>
            <a:ext cx="446446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with OB-GYN advisory panel; structured training; transparent, adjustable dashboard.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1330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9286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727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0727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7927" y="2148840"/>
            <a:ext cx="10149840" cy="0"/>
          </a:xfrm>
          <a:prstGeom prst="line">
            <a:avLst/>
          </a:prstGeom>
          <a:noFill/>
          <a:ln w="38100">
            <a:solidFill>
              <a:srgbClr val="D7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30011" y="2020824"/>
            <a:ext cx="256032" cy="25603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727" y="2606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3607" y="2743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3607" y="29992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83607" y="3291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&amp; 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3607" y="38404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flagship hospitals; shadow-mode deployment; OB-GYN panel validates SHAP rationale against clinical guidelines.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81771" y="2020824"/>
            <a:ext cx="256032" cy="25603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2487" y="2606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5367" y="2743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5367" y="29992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5367" y="3291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Calibration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5367" y="38404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pathway engagement; prospective validation study; per-site threshold tuning with clinical champions.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33531" y="2020824"/>
            <a:ext cx="256032" cy="25603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4247" y="2606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7127" y="2743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7127" y="29992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13–24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7127" y="3291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Rollout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7127" y="38404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deployment across remaining 13 hospitals; CTG/EHR integration; structured clinician training.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85291" y="2020824"/>
            <a:ext cx="256032" cy="25603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6007" y="2606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8887" y="2743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8887" y="29992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24+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38887" y="32918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Learning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8887" y="38404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model monitoring &amp; retraining cadence; evaluate expansion to partner networks / licensing.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33083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9287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476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3476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Ask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476" y="18288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F4753"/>
          </a:solidFill>
          <a:ln w="12700">
            <a:solidFill>
              <a:srgbClr val="0F4753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03516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403516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Year-1 pilot &amp; integration budget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03516" y="32461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2-site pilot deployment (6 months)</a:t>
            </a:r>
            <a:endParaRPr lang="en-US" sz="1200" dirty="0"/>
          </a:p>
          <a:p>
            <a:pPr marL="152400" indent="-1524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OB-GYN clinical advisory panel</a:t>
            </a:r>
            <a:endParaRPr lang="en-US" sz="1200" dirty="0"/>
          </a:p>
          <a:p>
            <a:pPr marL="152400" indent="-1524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regulatory counsel for FDA SaMD pathway</a:t>
            </a:r>
            <a:endParaRPr lang="en-US" sz="1200" dirty="0"/>
          </a:p>
          <a:p>
            <a:pPr marL="152400" indent="-1524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steering committee &amp; executive sponsor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24156" y="1828800"/>
            <a:ext cx="5167512" cy="3566160"/>
          </a:xfrm>
          <a:prstGeom prst="roundRect">
            <a:avLst>
              <a:gd name="adj" fmla="val 2051"/>
            </a:avLst>
          </a:prstGeom>
          <a:solidFill>
            <a:srgbClr val="0F4753"/>
          </a:solidFill>
          <a:ln w="12700">
            <a:solidFill>
              <a:srgbClr val="0F4753"/>
            </a:solidFill>
            <a:prstDash val="solid"/>
          </a:ln>
          <a:effectLst>
            <a:outerShdw blurRad="101600" dist="38100" dir="5400000" algn="bl" rotWithShape="0">
              <a:srgbClr val="1A2E3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44196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by Month 12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44196" y="246888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pathological CTG tracings ≥ 90% in pilot cohort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rationale validated against clinical guidelines by OB panel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validation study underway with regulatory counsel</a:t>
            </a:r>
            <a:endParaRPr lang="en-US" sz="1200" dirty="0"/>
          </a:p>
          <a:p>
            <a:pPr marL="152400" indent="-152400">
              <a:lnSpc>
                <a:spcPct val="13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refined with real pilot-site cost &amp; outcomes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03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2036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645920"/>
            <a:ext cx="914400" cy="914400"/>
          </a:xfrm>
          <a:prstGeom prst="ellipse">
            <a:avLst/>
          </a:prstGeom>
          <a:solidFill>
            <a:srgbClr val="0F4753"/>
          </a:solidFill>
          <a:ln/>
        </p:spPr>
      </p:sp>
      <p:sp>
        <p:nvSpPr>
          <p:cNvPr id="3" name="Shape 1"/>
          <p:cNvSpPr/>
          <p:nvPr/>
        </p:nvSpPr>
        <p:spPr>
          <a:xfrm>
            <a:off x="5801868" y="2103120"/>
            <a:ext cx="146304" cy="914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5948172" y="1839773"/>
            <a:ext cx="81930" cy="263347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0102" y="1839773"/>
            <a:ext cx="64374" cy="52669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94476" y="1956816"/>
            <a:ext cx="64374" cy="409651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8850" y="1956816"/>
            <a:ext cx="8193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0780" y="2103120"/>
            <a:ext cx="146304" cy="914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“Highest Accuracy” to “Lowest Clinical Risk”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361188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FetalGuard AI gives Alcove Health Systems a safer, explainable, deployable path to earlier fetal distress detection — protecting patients, clinicians, and the organization.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31436" y="457200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Strategy Team   |   contact: clinicalai-strategy@alcovehealth.example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5806440"/>
            <a:ext cx="9445752" cy="0"/>
          </a:xfrm>
          <a:prstGeom prst="line">
            <a:avLst/>
          </a:prstGeom>
          <a:noFill/>
          <a:ln w="12700">
            <a:solidFill>
              <a:srgbClr val="1B47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9436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6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“Alcove Health Systems” is a fictitious organization created for illustrative purposes only. All company details, volumes, and financial figures in this deck are synthetic and used solely to demonstrate the proposed framework — they do not represent any real hospital network or audited data.</a:t>
            </a:r>
            <a:endParaRPr lang="en-US" sz="9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</TotalTime>
  <Words>1272</Words>
  <Application>Microsoft Office PowerPoint</Application>
  <PresentationFormat>Widescreen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 ml</cp:lastModifiedBy>
  <cp:revision>8</cp:revision>
  <dcterms:created xsi:type="dcterms:W3CDTF">2026-07-12T16:08:15Z</dcterms:created>
  <dcterms:modified xsi:type="dcterms:W3CDTF">2026-07-14T12:39:54Z</dcterms:modified>
</cp:coreProperties>
</file>